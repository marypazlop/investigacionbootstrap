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30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6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63D7C"/>
          </a:solidFill>
          <a:ln w="12700">
            <a:solidFill>
              <a:srgbClr val="563D7C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7863840" y="68580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8257032" y="932688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D8FD"/>
                </a:solidFill>
              </a:rPr>
              <a:t>ISW-521 · Programación Web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Bootstrap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94944" y="2432304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9D8FD"/>
                </a:solidFill>
              </a:rPr>
              <a:t>Framework CSS para desarrollo web responsivo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94944" y="3822192"/>
            <a:ext cx="3886200" cy="566928"/>
          </a:xfrm>
          <a:prstGeom prst="roundRect">
            <a:avLst>
              <a:gd name="adj" fmla="val 12903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896112" y="398678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Investigación técnica · Framework CSS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694944" y="58978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D8FD"/>
                </a:solidFill>
              </a:rPr>
              <a:t>Universidad Técnica Nacional · II Cuatrimestre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5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Contexto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63D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antes de Bootstrap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1124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Cada proyecto web repetía los mismos problemas de interfaz desde cero.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Bootstrap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Shape 6"/>
          <p:cNvSpPr/>
          <p:nvPr/>
        </p:nvSpPr>
        <p:spPr>
          <a:xfrm>
            <a:off x="941832" y="2331720"/>
            <a:ext cx="530352" cy="530352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960120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63D7C"/>
                </a:solidFill>
              </a:rPr>
              <a:t>Responsividad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0120" y="3493008"/>
            <a:ext cx="2560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Diseño adaptable con media queries complejas.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480560" y="205740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Shape 10"/>
          <p:cNvSpPr/>
          <p:nvPr/>
        </p:nvSpPr>
        <p:spPr>
          <a:xfrm>
            <a:off x="4736592" y="2331720"/>
            <a:ext cx="530352" cy="530352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3" name="Text 11"/>
          <p:cNvSpPr/>
          <p:nvPr/>
        </p:nvSpPr>
        <p:spPr>
          <a:xfrm>
            <a:off x="4754880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63D7C"/>
                </a:solidFill>
              </a:rPr>
              <a:t>Consistencia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754880" y="3493008"/>
            <a:ext cx="2560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Estilos diferentes entre páginas, equipos y navegadores.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75320" y="205740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Shape 14"/>
          <p:cNvSpPr/>
          <p:nvPr/>
        </p:nvSpPr>
        <p:spPr>
          <a:xfrm>
            <a:off x="8531352" y="2331720"/>
            <a:ext cx="530352" cy="530352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7" name="Text 15"/>
          <p:cNvSpPr/>
          <p:nvPr/>
        </p:nvSpPr>
        <p:spPr>
          <a:xfrm>
            <a:off x="8549640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63D7C"/>
                </a:solidFill>
              </a:rPr>
              <a:t>Componentes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549640" y="3493008"/>
            <a:ext cx="2560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Botones, formularios, menús, modales y alertas reescritos.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5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Definición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63D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Bootstrap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1124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Bootstrap es una base estandarizada para construir interfaces rápido y con consistencia.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Bootstrap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2020824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987552" y="1938528"/>
            <a:ext cx="5669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Framework open-source creado en Twitter por Mark Otto y Jacob Thornton.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731520" y="2523744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0" name="Text 8"/>
          <p:cNvSpPr/>
          <p:nvPr/>
        </p:nvSpPr>
        <p:spPr>
          <a:xfrm>
            <a:off x="987552" y="2441448"/>
            <a:ext cx="5669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Incluye componentes HTML, CSS y JavaScript listos para usar.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731520" y="3026664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987552" y="2944368"/>
            <a:ext cx="5669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Desde Bootstrap 5 ya no depende de jQuery.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777240" y="5157216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E9D8FD"/>
          </a:solidFill>
          <a:ln w="1270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978408" y="5312664"/>
            <a:ext cx="9930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63D7C"/>
                </a:solidFill>
              </a:rPr>
              <a:t>No busca dar un diseño único: da un punto de partida sólido.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5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Funcionamiento interno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63D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funciona por dentro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1124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Su arquitectura combina grilla, estilos base, utilidades y JavaScript nativo.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Bootstrap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2148840"/>
            <a:ext cx="224942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877824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7952B3"/>
                </a:solidFill>
              </a:rPr>
              <a:t>Reboot</a:t>
            </a:r>
            <a:endParaRPr lang="en-US" sz="1660" dirty="0"/>
          </a:p>
        </p:txBody>
      </p:sp>
      <p:sp>
        <p:nvSpPr>
          <p:cNvPr id="9" name="Text 7"/>
          <p:cNvSpPr/>
          <p:nvPr/>
        </p:nvSpPr>
        <p:spPr>
          <a:xfrm>
            <a:off x="896112" y="2816352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</a:rPr>
              <a:t>Normaliza estilos base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3054096" y="25968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952B3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02152" y="2148840"/>
            <a:ext cx="224942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3666744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7952B3"/>
                </a:solidFill>
              </a:rPr>
              <a:t>Grid</a:t>
            </a:r>
            <a:endParaRPr lang="en-US" sz="1660" dirty="0"/>
          </a:p>
        </p:txBody>
      </p:sp>
      <p:sp>
        <p:nvSpPr>
          <p:cNvPr id="13" name="Text 11"/>
          <p:cNvSpPr/>
          <p:nvPr/>
        </p:nvSpPr>
        <p:spPr>
          <a:xfrm>
            <a:off x="3685032" y="2816352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</a:rPr>
              <a:t>Organiza layouts responsivos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5843016" y="25968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952B3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91072" y="2148840"/>
            <a:ext cx="224942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6455664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7952B3"/>
                </a:solidFill>
              </a:rPr>
              <a:t>Utilities</a:t>
            </a:r>
            <a:endParaRPr lang="en-US" sz="1660" dirty="0"/>
          </a:p>
        </p:txBody>
      </p:sp>
      <p:sp>
        <p:nvSpPr>
          <p:cNvPr id="17" name="Text 15"/>
          <p:cNvSpPr/>
          <p:nvPr/>
        </p:nvSpPr>
        <p:spPr>
          <a:xfrm>
            <a:off x="6473952" y="2816352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</a:rPr>
              <a:t>Aplica CSS desde clases HTML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8631936" y="25968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952B3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79992" y="2148840"/>
            <a:ext cx="224942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0" name="Text 18"/>
          <p:cNvSpPr/>
          <p:nvPr/>
        </p:nvSpPr>
        <p:spPr>
          <a:xfrm>
            <a:off x="9244584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7952B3"/>
                </a:solidFill>
              </a:rPr>
              <a:t>JS</a:t>
            </a:r>
            <a:endParaRPr lang="en-US" sz="1660" dirty="0"/>
          </a:p>
        </p:txBody>
      </p:sp>
      <p:sp>
        <p:nvSpPr>
          <p:cNvPr id="21" name="Text 19"/>
          <p:cNvSpPr/>
          <p:nvPr/>
        </p:nvSpPr>
        <p:spPr>
          <a:xfrm>
            <a:off x="9262872" y="2816352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</a:rPr>
              <a:t>Activa componentes sin jQuery</a:t>
            </a:r>
            <a:endParaRPr lang="en-US" sz="10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5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Grid System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63D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grilla de 12 columnas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1124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El layout se divide en 12 unidades flexibles que cambian según el tamaño de pantalla.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Bootstrap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987552" y="1965960"/>
            <a:ext cx="4434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.container o .container-fluid encapsulan el contenido.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731520" y="2551176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0" name="Text 8"/>
          <p:cNvSpPr/>
          <p:nvPr/>
        </p:nvSpPr>
        <p:spPr>
          <a:xfrm>
            <a:off x="987552" y="2468880"/>
            <a:ext cx="4434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.row agrupa columnas y gestiona gutters.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731520" y="3054096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987552" y="2971800"/>
            <a:ext cx="4434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.col-md-6 ocupa 6 de 12 columnas desde 768px en adelante.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5532120" y="2148840"/>
            <a:ext cx="420624" cy="2286000"/>
          </a:xfrm>
          <a:prstGeom prst="rect">
            <a:avLst/>
          </a:prstGeom>
          <a:solidFill>
            <a:srgbClr val="D8B4FE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Shape 12"/>
          <p:cNvSpPr/>
          <p:nvPr/>
        </p:nvSpPr>
        <p:spPr>
          <a:xfrm>
            <a:off x="5989320" y="2148840"/>
            <a:ext cx="420624" cy="2286000"/>
          </a:xfrm>
          <a:prstGeom prst="rect">
            <a:avLst/>
          </a:prstGeom>
          <a:solidFill>
            <a:srgbClr val="E9D8FD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5" name="Shape 13"/>
          <p:cNvSpPr/>
          <p:nvPr/>
        </p:nvSpPr>
        <p:spPr>
          <a:xfrm>
            <a:off x="6446520" y="2148840"/>
            <a:ext cx="420624" cy="2286000"/>
          </a:xfrm>
          <a:prstGeom prst="rect">
            <a:avLst/>
          </a:prstGeom>
          <a:solidFill>
            <a:srgbClr val="D8B4FE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Shape 14"/>
          <p:cNvSpPr/>
          <p:nvPr/>
        </p:nvSpPr>
        <p:spPr>
          <a:xfrm>
            <a:off x="6903720" y="2148840"/>
            <a:ext cx="420624" cy="2286000"/>
          </a:xfrm>
          <a:prstGeom prst="rect">
            <a:avLst/>
          </a:prstGeom>
          <a:solidFill>
            <a:srgbClr val="E9D8FD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7" name="Shape 15"/>
          <p:cNvSpPr/>
          <p:nvPr/>
        </p:nvSpPr>
        <p:spPr>
          <a:xfrm>
            <a:off x="7360920" y="2148840"/>
            <a:ext cx="420624" cy="2286000"/>
          </a:xfrm>
          <a:prstGeom prst="rect">
            <a:avLst/>
          </a:prstGeom>
          <a:solidFill>
            <a:srgbClr val="D8B4FE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8" name="Shape 16"/>
          <p:cNvSpPr/>
          <p:nvPr/>
        </p:nvSpPr>
        <p:spPr>
          <a:xfrm>
            <a:off x="7818120" y="2148840"/>
            <a:ext cx="420624" cy="2286000"/>
          </a:xfrm>
          <a:prstGeom prst="rect">
            <a:avLst/>
          </a:prstGeom>
          <a:solidFill>
            <a:srgbClr val="E9D8FD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9" name="Shape 17"/>
          <p:cNvSpPr/>
          <p:nvPr/>
        </p:nvSpPr>
        <p:spPr>
          <a:xfrm>
            <a:off x="8275320" y="2148840"/>
            <a:ext cx="420624" cy="2286000"/>
          </a:xfrm>
          <a:prstGeom prst="rect">
            <a:avLst/>
          </a:prstGeom>
          <a:solidFill>
            <a:srgbClr val="D8B4FE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0" name="Shape 18"/>
          <p:cNvSpPr/>
          <p:nvPr/>
        </p:nvSpPr>
        <p:spPr>
          <a:xfrm>
            <a:off x="8732520" y="2148840"/>
            <a:ext cx="420624" cy="2286000"/>
          </a:xfrm>
          <a:prstGeom prst="rect">
            <a:avLst/>
          </a:prstGeom>
          <a:solidFill>
            <a:srgbClr val="E9D8FD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1" name="Shape 19"/>
          <p:cNvSpPr/>
          <p:nvPr/>
        </p:nvSpPr>
        <p:spPr>
          <a:xfrm>
            <a:off x="9189720" y="2148840"/>
            <a:ext cx="420624" cy="2286000"/>
          </a:xfrm>
          <a:prstGeom prst="rect">
            <a:avLst/>
          </a:prstGeom>
          <a:solidFill>
            <a:srgbClr val="D8B4FE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2" name="Shape 20"/>
          <p:cNvSpPr/>
          <p:nvPr/>
        </p:nvSpPr>
        <p:spPr>
          <a:xfrm>
            <a:off x="9646920" y="2148840"/>
            <a:ext cx="420624" cy="2286000"/>
          </a:xfrm>
          <a:prstGeom prst="rect">
            <a:avLst/>
          </a:prstGeom>
          <a:solidFill>
            <a:srgbClr val="E9D8FD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3" name="Shape 21"/>
          <p:cNvSpPr/>
          <p:nvPr/>
        </p:nvSpPr>
        <p:spPr>
          <a:xfrm>
            <a:off x="10104120" y="2148840"/>
            <a:ext cx="420624" cy="2286000"/>
          </a:xfrm>
          <a:prstGeom prst="rect">
            <a:avLst/>
          </a:prstGeom>
          <a:solidFill>
            <a:srgbClr val="D8B4FE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4" name="Shape 22"/>
          <p:cNvSpPr/>
          <p:nvPr/>
        </p:nvSpPr>
        <p:spPr>
          <a:xfrm>
            <a:off x="10561320" y="2148840"/>
            <a:ext cx="420624" cy="2286000"/>
          </a:xfrm>
          <a:prstGeom prst="rect">
            <a:avLst/>
          </a:prstGeom>
          <a:solidFill>
            <a:srgbClr val="E9D8FD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5" name="Text 23"/>
          <p:cNvSpPr/>
          <p:nvPr/>
        </p:nvSpPr>
        <p:spPr>
          <a:xfrm>
            <a:off x="5532120" y="4645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63D7C"/>
                </a:solidFill>
              </a:rPr>
              <a:t>12 columnas · Flexbox · Breakpoints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5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Breakpoints y utilidades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63D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Clases que aceleran el CSS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1124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Bootstrap traduce decisiones comunes de CSS en clases reutilizables.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Bootstrap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2084832"/>
            <a:ext cx="2304288" cy="475488"/>
          </a:xfrm>
          <a:prstGeom prst="roundRect">
            <a:avLst>
              <a:gd name="adj" fmla="val 11538"/>
            </a:avLst>
          </a:prstGeom>
          <a:solidFill>
            <a:srgbClr val="563D7C"/>
          </a:solidFill>
          <a:ln w="12700">
            <a:solidFill>
              <a:srgbClr val="563D7C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.mt-3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66160" y="2084832"/>
            <a:ext cx="2304288" cy="475488"/>
          </a:xfrm>
          <a:prstGeom prst="roundRect">
            <a:avLst>
              <a:gd name="adj" fmla="val 11538"/>
            </a:avLst>
          </a:prstGeom>
          <a:solidFill>
            <a:srgbClr val="563D7C"/>
          </a:solidFill>
          <a:ln w="12700">
            <a:solidFill>
              <a:srgbClr val="563D7C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0" name="Text 8"/>
          <p:cNvSpPr/>
          <p:nvPr/>
        </p:nvSpPr>
        <p:spPr>
          <a:xfrm>
            <a:off x="3657600" y="222199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.d-flex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798064"/>
            <a:ext cx="2304288" cy="475488"/>
          </a:xfrm>
          <a:prstGeom prst="roundRect">
            <a:avLst>
              <a:gd name="adj" fmla="val 11538"/>
            </a:avLst>
          </a:prstGeom>
          <a:solidFill>
            <a:srgbClr val="563D7C"/>
          </a:solidFill>
          <a:ln w="12700">
            <a:solidFill>
              <a:srgbClr val="563D7C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822960" y="2935224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.text-center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66160" y="2798064"/>
            <a:ext cx="2304288" cy="475488"/>
          </a:xfrm>
          <a:prstGeom prst="roundRect">
            <a:avLst>
              <a:gd name="adj" fmla="val 11538"/>
            </a:avLst>
          </a:prstGeom>
          <a:solidFill>
            <a:srgbClr val="563D7C"/>
          </a:solidFill>
          <a:ln w="12700">
            <a:solidFill>
              <a:srgbClr val="563D7C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3657600" y="2935224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.bg-primary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2167128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6245352" y="2084832"/>
            <a:ext cx="4892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Los breakpoints se resuelven con media queries CSS, no con JavaScript.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5989320" y="2670048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8" name="Text 16"/>
          <p:cNvSpPr/>
          <p:nvPr/>
        </p:nvSpPr>
        <p:spPr>
          <a:xfrm>
            <a:off x="6245352" y="2587752"/>
            <a:ext cx="4892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Las utilidades reducen CSS repetido y facilitan prototipos rápidos.</a:t>
            </a:r>
            <a:endParaRPr lang="en-US" sz="12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5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Componentes JS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63D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Interactividad sin jQuery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1124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Bootstrap 5 usa Web APIs nativas para modales, dropdowns, tooltips y carousels.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Bootstrap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2020824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987552" y="1938528"/>
            <a:ext cx="5669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Activación declarativa con atributos data-bs-*.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731520" y="2523744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0" name="Text 8"/>
          <p:cNvSpPr/>
          <p:nvPr/>
        </p:nvSpPr>
        <p:spPr>
          <a:xfrm>
            <a:off x="987552" y="2441448"/>
            <a:ext cx="5669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Activación programática con new bootstrap.Modal(elemento).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731520" y="3026664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987552" y="2944368"/>
            <a:ext cx="5669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Menos dependencias y menor peso del bundle que en versiones anteriores.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777240" y="5157216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E9D8FD"/>
          </a:solidFill>
          <a:ln w="1270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978408" y="5312664"/>
            <a:ext cx="9930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63D7C"/>
                </a:solidFill>
              </a:rPr>
              <a:t>Punto diferenciador para el Q&amp;A: Bootstrap no requiere jQuery desde la versión 5.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5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Criterio técnico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63D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Cuándo sí y cuándo no usarlo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1124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La decisión depende de velocidad, identidad visual, peso del CSS y experiencia del equipo.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Bootstrap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Shape 6"/>
          <p:cNvSpPr/>
          <p:nvPr/>
        </p:nvSpPr>
        <p:spPr>
          <a:xfrm>
            <a:off x="6172200" y="1938528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960120" y="2231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C997"/>
                </a:solidFill>
              </a:rPr>
              <a:t>Sí conviene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231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3545"/>
                </a:solidFill>
              </a:rPr>
              <a:t>No conviene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120" y="2871216"/>
            <a:ext cx="109728" cy="109728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1216152" y="2788920"/>
            <a:ext cx="4114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MVPs y prototipos rápidos.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960120" y="3374136"/>
            <a:ext cx="109728" cy="109728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1216152" y="3291840"/>
            <a:ext cx="4114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Dashboards, formularios y portales internos.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960120" y="3877056"/>
            <a:ext cx="109728" cy="109728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1216152" y="3794760"/>
            <a:ext cx="4114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Equipos sin diseñador dedicado.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6446520" y="2871216"/>
            <a:ext cx="109728" cy="109728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8" name="Text 16"/>
          <p:cNvSpPr/>
          <p:nvPr/>
        </p:nvSpPr>
        <p:spPr>
          <a:xfrm>
            <a:off x="6702552" y="2788920"/>
            <a:ext cx="4114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Branding altamente personalizado.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6446520" y="3374136"/>
            <a:ext cx="109728" cy="109728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0" name="Text 18"/>
          <p:cNvSpPr/>
          <p:nvPr/>
        </p:nvSpPr>
        <p:spPr>
          <a:xfrm>
            <a:off x="6702552" y="3291840"/>
            <a:ext cx="4114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CSS completo sin purga o build Sass.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6446520" y="3877056"/>
            <a:ext cx="109728" cy="109728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2" name="Text 20"/>
          <p:cNvSpPr/>
          <p:nvPr/>
        </p:nvSpPr>
        <p:spPr>
          <a:xfrm>
            <a:off x="6702552" y="3794760"/>
            <a:ext cx="4114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Equipos que prefieren CSS moderno directo.</a:t>
            </a:r>
            <a:endParaRPr lang="en-US" sz="12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5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Comparativa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63D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Bootstrap vs Tailwind CSS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1124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Ambos resuelven UI rápida, pero con filosofías opuestas.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Bootstrap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901952"/>
            <a:ext cx="1783080" cy="576072"/>
          </a:xfrm>
          <a:prstGeom prst="rect">
            <a:avLst/>
          </a:prstGeom>
          <a:solidFill>
            <a:srgbClr val="563D7C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Criterio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468880" y="1901952"/>
            <a:ext cx="4160520" cy="576072"/>
          </a:xfrm>
          <a:prstGeom prst="rect">
            <a:avLst/>
          </a:prstGeom>
          <a:solidFill>
            <a:srgbClr val="7952B3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0" name="Text 8"/>
          <p:cNvSpPr/>
          <p:nvPr/>
        </p:nvSpPr>
        <p:spPr>
          <a:xfrm>
            <a:off x="2560320" y="20574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Bootstrap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629400" y="1901952"/>
            <a:ext cx="4160520" cy="576072"/>
          </a:xfrm>
          <a:prstGeom prst="rect">
            <a:avLst/>
          </a:prstGeom>
          <a:solidFill>
            <a:srgbClr val="7952B3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6720840" y="20574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Tailwind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85800" y="2478024"/>
            <a:ext cx="178308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777240" y="26334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563D7C"/>
                </a:solidFill>
              </a:rPr>
              <a:t>Enfoque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468880" y="2478024"/>
            <a:ext cx="416052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2560320" y="26334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Componentes predefinidos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629400" y="2478024"/>
            <a:ext cx="416052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8" name="Text 16"/>
          <p:cNvSpPr/>
          <p:nvPr/>
        </p:nvSpPr>
        <p:spPr>
          <a:xfrm>
            <a:off x="6720840" y="26334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Utilidades atómicas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85800" y="3054096"/>
            <a:ext cx="178308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0" name="Text 18"/>
          <p:cNvSpPr/>
          <p:nvPr/>
        </p:nvSpPr>
        <p:spPr>
          <a:xfrm>
            <a:off x="777240" y="3209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563D7C"/>
                </a:solidFill>
              </a:rPr>
              <a:t>Ejemplo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2468880" y="3054096"/>
            <a:ext cx="416052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2" name="Text 20"/>
          <p:cNvSpPr/>
          <p:nvPr/>
        </p:nvSpPr>
        <p:spPr>
          <a:xfrm>
            <a:off x="2560320" y="32095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.btn .btn-primary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629400" y="3054096"/>
            <a:ext cx="416052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4" name="Text 22"/>
          <p:cNvSpPr/>
          <p:nvPr/>
        </p:nvSpPr>
        <p:spPr>
          <a:xfrm>
            <a:off x="6720840" y="32095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bg-blue-500 px-4 py-2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85800" y="3630168"/>
            <a:ext cx="178308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6" name="Text 24"/>
          <p:cNvSpPr/>
          <p:nvPr/>
        </p:nvSpPr>
        <p:spPr>
          <a:xfrm>
            <a:off x="777240" y="37856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563D7C"/>
                </a:solidFill>
              </a:rPr>
              <a:t>Ideal para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2468880" y="3630168"/>
            <a:ext cx="416052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8" name="Text 26"/>
          <p:cNvSpPr/>
          <p:nvPr/>
        </p:nvSpPr>
        <p:spPr>
          <a:xfrm>
            <a:off x="2560320" y="37856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Entrega rápida y UI estándar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629400" y="3630168"/>
            <a:ext cx="416052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0" name="Text 28"/>
          <p:cNvSpPr/>
          <p:nvPr/>
        </p:nvSpPr>
        <p:spPr>
          <a:xfrm>
            <a:off x="6720840" y="37856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Identidad visual diferenciadora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85800" y="4206240"/>
            <a:ext cx="178308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2" name="Text 30"/>
          <p:cNvSpPr/>
          <p:nvPr/>
        </p:nvSpPr>
        <p:spPr>
          <a:xfrm>
            <a:off x="777240" y="43616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563D7C"/>
                </a:solidFill>
              </a:rPr>
              <a:t>Riesgo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2468880" y="4206240"/>
            <a:ext cx="416052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4" name="Text 32"/>
          <p:cNvSpPr/>
          <p:nvPr/>
        </p:nvSpPr>
        <p:spPr>
          <a:xfrm>
            <a:off x="2560320" y="43616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Diseño reconocible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629400" y="4206240"/>
            <a:ext cx="416052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D8F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6" name="Text 34"/>
          <p:cNvSpPr/>
          <p:nvPr/>
        </p:nvSpPr>
        <p:spPr>
          <a:xfrm>
            <a:off x="6720840" y="43616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HTML con muchas clases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5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Ecosistema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63D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Vigencia en la industria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2064" y="1124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Bootstrap sigue vivo porque combina documentación, adopción y compatibilidad.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Bootstrap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2020824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987552" y="1938528"/>
            <a:ext cx="5074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Bootstrap 5.3.x es la línea estable usada en producción.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731520" y="2523744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0" name="Text 8"/>
          <p:cNvSpPr/>
          <p:nvPr/>
        </p:nvSpPr>
        <p:spPr>
          <a:xfrm>
            <a:off x="987552" y="2441448"/>
            <a:ext cx="5074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Bootstrap 4 permanece en proyectos legacy, aunque sin nuevas funcionalidades.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731520" y="3026664"/>
            <a:ext cx="109728" cy="109728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987552" y="2944368"/>
            <a:ext cx="5074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</a:rPr>
              <a:t>Su reconocimiento y descargas lo mantienen relevante en contextos educativos y empresariales.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6446520" y="2907792"/>
            <a:ext cx="3840480" cy="0"/>
          </a:xfrm>
          <a:prstGeom prst="line">
            <a:avLst/>
          </a:prstGeom>
          <a:noFill/>
          <a:ln w="254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Shape 12"/>
          <p:cNvSpPr/>
          <p:nvPr/>
        </p:nvSpPr>
        <p:spPr>
          <a:xfrm>
            <a:off x="6309360" y="2770632"/>
            <a:ext cx="274320" cy="274320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5" name="Text 13"/>
          <p:cNvSpPr/>
          <p:nvPr/>
        </p:nvSpPr>
        <p:spPr>
          <a:xfrm>
            <a:off x="6035040" y="3337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563D7C"/>
                </a:solidFill>
              </a:rPr>
              <a:t>2011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0" y="2770632"/>
            <a:ext cx="274320" cy="274320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7" name="Text 15"/>
          <p:cNvSpPr/>
          <p:nvPr/>
        </p:nvSpPr>
        <p:spPr>
          <a:xfrm>
            <a:off x="7955280" y="3337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563D7C"/>
                </a:solidFill>
              </a:rPr>
              <a:t>v5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10149840" y="2770632"/>
            <a:ext cx="274320" cy="274320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9" name="Text 17"/>
          <p:cNvSpPr/>
          <p:nvPr/>
        </p:nvSpPr>
        <p:spPr>
          <a:xfrm>
            <a:off x="9875520" y="3337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563D7C"/>
                </a:solidFill>
              </a:rPr>
              <a:t>5.3.x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556</Words>
  <Application>Microsoft Office PowerPoint</Application>
  <PresentationFormat>Panorámica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Tecnica Nacional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Bootstrap: Framework CSS para Desarrollo Web Responsivo</dc:title>
  <dc:subject>Bootstrap - ISW-521</dc:subject>
  <dc:creator>Codex</dc:creator>
  <cp:lastModifiedBy>Joselyn Segura</cp:lastModifiedBy>
  <cp:revision>2</cp:revision>
  <dcterms:created xsi:type="dcterms:W3CDTF">2026-06-02T20:47:59Z</dcterms:created>
  <dcterms:modified xsi:type="dcterms:W3CDTF">2026-06-18T02:04:38Z</dcterms:modified>
</cp:coreProperties>
</file>